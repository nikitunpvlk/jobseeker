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3" r:id="rId6"/>
    <p:sldId id="274" r:id="rId7"/>
    <p:sldId id="275" r:id="rId8"/>
    <p:sldId id="260" r:id="rId9"/>
    <p:sldId id="280" r:id="rId10"/>
    <p:sldId id="279" r:id="rId11"/>
    <p:sldId id="263" r:id="rId12"/>
    <p:sldId id="281" r:id="rId13"/>
    <p:sldId id="277" r:id="rId14"/>
    <p:sldId id="264" r:id="rId15"/>
    <p:sldId id="266" r:id="rId16"/>
    <p:sldId id="278" r:id="rId17"/>
    <p:sldId id="268" r:id="rId18"/>
    <p:sldId id="276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FA8E5D4-350C-418C-BF86-B9D1B71CD5A3}">
          <p14:sldIdLst>
            <p14:sldId id="256"/>
            <p14:sldId id="257"/>
            <p14:sldId id="258"/>
            <p14:sldId id="259"/>
            <p14:sldId id="273"/>
            <p14:sldId id="274"/>
            <p14:sldId id="275"/>
            <p14:sldId id="260"/>
            <p14:sldId id="280"/>
            <p14:sldId id="279"/>
            <p14:sldId id="263"/>
            <p14:sldId id="281"/>
            <p14:sldId id="277"/>
            <p14:sldId id="264"/>
            <p14:sldId id="266"/>
            <p14:sldId id="278"/>
            <p14:sldId id="268"/>
            <p14:sldId id="276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D76A5-42F3-47C1-BF9B-5BC309AA32D4}" type="datetimeFigureOut">
              <a:rPr lang="ru-RU" smtClean="0"/>
              <a:t>22.06.2023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42171-246C-417B-B9E5-9D89710D8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187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C42171-246C-417B-B9E5-9D89710D814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56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C42171-246C-417B-B9E5-9D89710D814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81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C113C-CAD9-433E-94B6-D799E4AD8C86}" type="datetime1">
              <a:rPr lang="ru-RU" smtClean="0"/>
              <a:t>22.06.2023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25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E14C-317F-43A3-8B38-5C7BA87611C2}" type="datetime1">
              <a:rPr lang="ru-RU" smtClean="0"/>
              <a:t>22.06.2023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3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10250-F0F2-4E31-AB13-BAFD00A0B9DC}" type="datetime1">
              <a:rPr lang="ru-RU" smtClean="0"/>
              <a:t>22.06.2023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66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E841-7DF6-45E0-AC4E-13BD9DE51BA6}" type="datetime1">
              <a:rPr lang="ru-RU" smtClean="0"/>
              <a:t>22.06.2023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211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BCC2C-F9A4-4866-9A1D-07DDA5811748}" type="datetime1">
              <a:rPr lang="ru-RU" smtClean="0"/>
              <a:t>22.06.2023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73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F26F4-2A4B-49D2-B9C7-B9E00FF3AEC8}" type="datetime1">
              <a:rPr lang="ru-RU" smtClean="0"/>
              <a:t>22.06.2023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08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FA74-D26B-4759-ADB8-D551A424ACA7}" type="datetime1">
              <a:rPr lang="ru-RU" smtClean="0"/>
              <a:t>22.06.2023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27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5897B-137F-47E1-91F5-4CFB541172A6}" type="datetime1">
              <a:rPr lang="ru-RU" smtClean="0"/>
              <a:t>22.06.2023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47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1CC4-0240-4CA4-A948-0C00DCA68186}" type="datetime1">
              <a:rPr lang="ru-RU" smtClean="0"/>
              <a:t>22.06.2023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69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F4FF-B7C8-4212-BE3C-ED03F0DB6D18}" type="datetime1">
              <a:rPr lang="ru-RU" smtClean="0"/>
              <a:t>22.06.2023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3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00CD-C648-46C4-A721-EF506D9AACA3}" type="datetime1">
              <a:rPr lang="ru-RU" smtClean="0"/>
              <a:t>22.06.2023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121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3D00C-5B5F-4F52-8DB5-9C4D7C95BC35}" type="datetime1">
              <a:rPr lang="ru-RU" smtClean="0"/>
              <a:t>22.06.2023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CAFBF-A354-4D1D-AE10-F21F481383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097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AA6F2686-9C35-4172-A071-2C9D7B7FD89A}"/>
              </a:ext>
            </a:extLst>
          </p:cNvPr>
          <p:cNvSpPr>
            <a:spLocks noGrp="1"/>
          </p:cNvSpPr>
          <p:nvPr/>
        </p:nvSpPr>
        <p:spPr>
          <a:xfrm>
            <a:off x="347311" y="324573"/>
            <a:ext cx="11588816" cy="16858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800" b="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Національний університет «Одеська політехніка»</a:t>
            </a:r>
            <a:br>
              <a:rPr lang="uk-UA" sz="2800" b="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uk-UA" sz="2800" b="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Інститут комп</a:t>
            </a:r>
            <a:r>
              <a:rPr lang="en-US" sz="2800" b="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lang="uk-UA" sz="2800" b="0" cap="none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ютерних</a:t>
            </a:r>
            <a:r>
              <a:rPr lang="uk-UA" sz="2800" b="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систем</a:t>
            </a:r>
            <a:br>
              <a:rPr lang="uk-UA" sz="2800" b="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uk-UA" sz="2800" b="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Кафедра інформаційних систем</a:t>
            </a:r>
            <a:r>
              <a:rPr lang="uk-UA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uk-UA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cap="none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="" xmlns:a16="http://schemas.microsoft.com/office/drawing/2014/main" xmlns:lc="http://schemas.openxmlformats.org/drawingml/2006/lockedCanvas" id="{0C7D8127-4B84-4D5A-9AAC-EE324897D1B1}"/>
              </a:ext>
            </a:extLst>
          </p:cNvPr>
          <p:cNvSpPr>
            <a:spLocks noGrp="1"/>
          </p:cNvSpPr>
          <p:nvPr/>
        </p:nvSpPr>
        <p:spPr>
          <a:xfrm>
            <a:off x="1515211" y="4498711"/>
            <a:ext cx="9253015" cy="108336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Виконав: студент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групи ЛА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І-195, </a:t>
            </a:r>
          </a:p>
          <a:p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Нікітін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Павло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Якович</a:t>
            </a:r>
            <a:endParaRPr lang="uk-U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Керівник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uk-UA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Петросюк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Денис Валерійович, асистент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="" xmlns:a16="http://schemas.microsoft.com/office/drawing/2014/main" xmlns:lc="http://schemas.openxmlformats.org/drawingml/2006/lockedCanvas" id="{F3F8F908-5066-45C0-A4F5-5EDB252EF52F}"/>
              </a:ext>
            </a:extLst>
          </p:cNvPr>
          <p:cNvSpPr txBox="1"/>
          <p:nvPr/>
        </p:nvSpPr>
        <p:spPr>
          <a:xfrm>
            <a:off x="275121" y="6137076"/>
            <a:ext cx="11733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Одеса – 2023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0647B560-BC74-4F25-A9E9-1F505FB57C4B}"/>
              </a:ext>
            </a:extLst>
          </p:cNvPr>
          <p:cNvSpPr txBox="1">
            <a:spLocks/>
          </p:cNvSpPr>
          <p:nvPr/>
        </p:nvSpPr>
        <p:spPr>
          <a:xfrm>
            <a:off x="127534" y="1839536"/>
            <a:ext cx="11717153" cy="57388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uk-UA" sz="240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Кваліфікаційна робота бакалавра </a:t>
            </a:r>
            <a:endParaRPr lang="ru-RU" sz="2400" cap="none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214E018E-3990-47A4-A438-3E17368213FA}"/>
              </a:ext>
            </a:extLst>
          </p:cNvPr>
          <p:cNvSpPr txBox="1">
            <a:spLocks/>
          </p:cNvSpPr>
          <p:nvPr/>
        </p:nvSpPr>
        <p:spPr>
          <a:xfrm>
            <a:off x="347311" y="3035218"/>
            <a:ext cx="11717154" cy="98042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uk-UA" sz="3600" dirty="0"/>
              <a:t>Розробка мобільного застосунку для збору </a:t>
            </a:r>
            <a:r>
              <a:rPr lang="uk-UA" sz="3600" dirty="0" smtClean="0"/>
              <a:t>та</a:t>
            </a:r>
            <a:r>
              <a:rPr lang="ru-RU" sz="3600" dirty="0"/>
              <a:t> </a:t>
            </a:r>
            <a:r>
              <a:rPr lang="uk-UA" sz="3600" dirty="0" smtClean="0"/>
              <a:t>агрегації </a:t>
            </a:r>
            <a:r>
              <a:rPr lang="uk-UA" sz="3600" dirty="0"/>
              <a:t>даних про вакансії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91359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54652A25-061E-49C7-99D4-5D3A9CA9CBF6}"/>
              </a:ext>
            </a:extLst>
          </p:cNvPr>
          <p:cNvSpPr>
            <a:spLocks noGrp="1"/>
          </p:cNvSpPr>
          <p:nvPr/>
        </p:nvSpPr>
        <p:spPr>
          <a:xfrm>
            <a:off x="257073" y="-678"/>
            <a:ext cx="11677851" cy="6555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АКТУАЛЬНІСТЬ ТЕМИ</a:t>
            </a:r>
            <a:endParaRPr lang="ru-RU" sz="24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66274" y="758728"/>
            <a:ext cx="10487526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uk-UA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Працевлаштування стає дедалі актуальнішою проблемою. З кожним роком кількість безробітних зростає, а конкуренція на ринку праці лише посилюється. Необхідно витратити багато часу на пошук праці та відповідних вакансій. </a:t>
            </a: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uk-UA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Коли кандидат у пошуку праці, щоб максимально обмірковано та успішно обрати подальше працевлаштування, йому потрібно відвідати багато сервісів, на яких розташовані вакансії. Навіть якщо обирати тільки найпопулярніші з них, все одно потрібно на кожному з них повторно заповнювати ти ж самі параметри, що збільшує час пошуку. </a:t>
            </a: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uk-UA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Також, у наше життя дедалі більше входять мобільні пристрої. Зараз, майже у кожної людини є смартфон, і все більше осіб віддають перевагу виконанню дій на смартфоні, ніж на комп’ютері. Але, після аналізу ринку мобільних застосунків, які розміщують вакансії, з’ясувалося, що багато з сервісів не мають свого мобільного застосунку. </a:t>
            </a: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uk-UA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Таким чином, розробка мобільного застосунку, який </a:t>
            </a:r>
            <a:r>
              <a:rPr lang="uk-UA" dirty="0" err="1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агрегує</a:t>
            </a:r>
            <a:r>
              <a:rPr lang="uk-UA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вакансії з різних сервісів, є актуальною, бо це надає користувачу зручний спосіб пошуку та зменшує витрати часу.</a:t>
            </a:r>
            <a:endParaRPr lang="ru-RU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5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54652A25-061E-49C7-99D4-5D3A9CA9CBF6}"/>
              </a:ext>
            </a:extLst>
          </p:cNvPr>
          <p:cNvSpPr>
            <a:spLocks noGrp="1"/>
          </p:cNvSpPr>
          <p:nvPr/>
        </p:nvSpPr>
        <p:spPr>
          <a:xfrm>
            <a:off x="1349433" y="-10488"/>
            <a:ext cx="9875520" cy="737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МЕТА ТА ЗАДАЧІ РОБОТИ</a:t>
            </a:r>
            <a:endParaRPr lang="ru-RU" sz="24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21575" y="727449"/>
            <a:ext cx="1093123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uk-UA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Метою кваліфікаційної роботи є розробка мобільного застосунку, який допоможе користувачам швидко та зручно знаходити вакансії на ринку праці. Він буде надавати можливість пошуку вакансій за критеріями та навичками, </a:t>
            </a:r>
            <a:r>
              <a:rPr lang="uk-UA" sz="2000" dirty="0" err="1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агрегувати</a:t>
            </a:r>
            <a:r>
              <a:rPr lang="uk-UA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вакансії з найпопулярніших сервісів та дозволяти переглядати їх опис і зберігати вподобані вакансії.</a:t>
            </a:r>
            <a:endParaRPr lang="ru-RU" sz="2000" dirty="0" smtClean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uk-UA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досягнення мети необхідно вирішити наступні здачі:</a:t>
            </a:r>
            <a:endParaRPr lang="ru-RU" sz="2000" dirty="0" smtClean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−"/>
              <a:tabLst>
                <a:tab pos="683895" algn="l"/>
              </a:tabLst>
            </a:pPr>
            <a:r>
              <a:rPr lang="uk-UA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проаналізувати аналогічні системи пошуку вакансій та виявити функціонал, який доцільно реалізувати;</a:t>
            </a:r>
            <a:endParaRPr lang="ru-RU" sz="2000" dirty="0" smtClean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−"/>
              <a:tabLst>
                <a:tab pos="683895" algn="l"/>
              </a:tabLst>
            </a:pPr>
            <a:r>
              <a:rPr lang="uk-UA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обрати інструменти та технології для проектування та реалізації системи;</a:t>
            </a:r>
            <a:endParaRPr lang="ru-RU" sz="2000" dirty="0" smtClean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−"/>
              <a:tabLst>
                <a:tab pos="683895" algn="l"/>
              </a:tabLst>
            </a:pPr>
            <a:r>
              <a:rPr lang="uk-UA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спроектувати систему для збору та агрегації даних про вакансії;</a:t>
            </a:r>
            <a:endParaRPr lang="ru-RU" sz="2000" dirty="0" smtClean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−"/>
              <a:tabLst>
                <a:tab pos="683895" algn="l"/>
              </a:tabLst>
            </a:pPr>
            <a:r>
              <a:rPr lang="uk-UA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реалізувати систему для збору та агрегації даних про вакансії;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−"/>
              <a:tabLst>
                <a:tab pos="683895" algn="l"/>
              </a:tabLst>
            </a:pPr>
            <a:r>
              <a:rPr lang="uk-UA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протестувати систему для збору та агрегації даних про вакансії.</a:t>
            </a:r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78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34652" y="20710"/>
            <a:ext cx="71226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ОГЛЯД ІСНУЮЧИХ СИСТЕМ ЗБОРУ ТА АГРЕГАЦІЇ ДАНИХ ПРО </a:t>
            </a:r>
            <a:r>
              <a:rPr lang="uk-UA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r>
              <a:rPr lang="en-US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JOBS.UA</a:t>
            </a:r>
            <a:endParaRPr lang="ru-RU" sz="24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58" y="1226322"/>
            <a:ext cx="6368400" cy="275632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338" y="3278857"/>
            <a:ext cx="5920473" cy="275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5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5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t="3626"/>
          <a:stretch/>
        </p:blipFill>
        <p:spPr>
          <a:xfrm>
            <a:off x="838200" y="1304925"/>
            <a:ext cx="2437527" cy="41762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3722"/>
          <a:stretch/>
        </p:blipFill>
        <p:spPr>
          <a:xfrm>
            <a:off x="4875914" y="1304925"/>
            <a:ext cx="2440171" cy="417664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t="3722"/>
          <a:stretch/>
        </p:blipFill>
        <p:spPr>
          <a:xfrm>
            <a:off x="8913834" y="1304925"/>
            <a:ext cx="2439966" cy="417628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2153150" y="0"/>
            <a:ext cx="78856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ОГЛЯД ІСНУЮЧИХ СИСТЕМ ЗБОРУ ТА АГРЕГАЦІЇ ДАНИХ ПРО </a:t>
            </a:r>
            <a:r>
              <a:rPr lang="uk-UA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r>
              <a:rPr lang="en-US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WORK.UA</a:t>
            </a:r>
            <a:endParaRPr lang="ru-RU" sz="24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9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6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724954" y="1456055"/>
            <a:ext cx="4646091" cy="3718511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774129" y="1456054"/>
            <a:ext cx="5672942" cy="371851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534652" y="0"/>
            <a:ext cx="71226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ОГЛЯД ІСНУЮЧИХ СИСТЕМ ЗБОРУ ТА АГРЕГАЦІЇ ДАНИХ ПРО </a:t>
            </a:r>
            <a:r>
              <a:rPr lang="uk-UA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r>
              <a:rPr lang="en-US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DJINNI</a:t>
            </a:r>
            <a:endParaRPr lang="ru-RU" sz="24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00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7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Рисунок 4"/>
          <p:cNvPicPr/>
          <p:nvPr/>
        </p:nvPicPr>
        <p:blipFill rotWithShape="1">
          <a:blip r:embed="rId2"/>
          <a:srcRect b="202"/>
          <a:stretch/>
        </p:blipFill>
        <p:spPr bwMode="auto">
          <a:xfrm>
            <a:off x="496887" y="1156151"/>
            <a:ext cx="5102225" cy="5043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/>
          <p:cNvPicPr/>
          <p:nvPr/>
        </p:nvPicPr>
        <p:blipFill rotWithShape="1">
          <a:blip r:embed="rId3"/>
          <a:srcRect t="-174" b="470"/>
          <a:stretch/>
        </p:blipFill>
        <p:spPr bwMode="auto">
          <a:xfrm>
            <a:off x="6554806" y="1156151"/>
            <a:ext cx="5178387" cy="5043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2534652" y="0"/>
            <a:ext cx="71226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ОГЛЯД ІСНУЮЧИХ СИСТЕМ ЗБОРУ ТА АГРЕГАЦІЇ ДАНИХ ПРО </a:t>
            </a:r>
            <a:r>
              <a:rPr lang="uk-UA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r>
              <a:rPr lang="en-US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DOU.UA</a:t>
            </a:r>
            <a:endParaRPr lang="ru-RU" sz="24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35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353357"/>
              </p:ext>
            </p:extLst>
          </p:nvPr>
        </p:nvGraphicFramePr>
        <p:xfrm>
          <a:off x="676276" y="830997"/>
          <a:ext cx="10677524" cy="51268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9663"/>
                <a:gridCol w="1642696"/>
                <a:gridCol w="1642696"/>
                <a:gridCol w="1618843"/>
                <a:gridCol w="1981813"/>
                <a:gridCol w="1981813"/>
              </a:tblGrid>
              <a:tr h="28161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Критерії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Сервіси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9217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Jobs.ua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Work.ua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Djinni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Dou.ua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Розроблюваний застосунок</a:t>
                      </a:r>
                      <a:endParaRPr lang="ru-RU" sz="12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</a:tr>
              <a:tr h="4727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Пошук за посадою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Пошук за локацією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</a:tr>
              <a:tr h="440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Пошук за категорією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Можливість збереження вакансії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Можливість пошуку без профілю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Обмеження функціоналу без профілю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</a:tr>
              <a:tr h="6567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Наявність мобільного застосунку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</a:tr>
              <a:tr h="6650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Пошук</a:t>
                      </a:r>
                      <a:r>
                        <a:rPr lang="ru-RU" sz="1200" b="1" baseline="0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за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b="1" baseline="0" dirty="0" err="1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навичками</a:t>
                      </a:r>
                      <a:r>
                        <a:rPr lang="ru-RU" sz="1200" b="1" baseline="0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ru-RU" sz="1200" b="1" baseline="0" dirty="0" err="1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користувача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</a:t>
                      </a:r>
                      <a:endParaRPr lang="ru-RU" sz="12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9075" marR="49075" marT="0" marB="0" anchor="ctr"/>
                </a:tc>
              </a:tr>
            </a:tbl>
          </a:graphicData>
        </a:graphic>
      </p:graphicFrame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8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34652" y="0"/>
            <a:ext cx="71226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ОГЛЯД ІСНУЮЧИХ СИСТЕМ ЗБОРУ ТА АГРЕГАЦІЇ ДАНИХ ПРО </a:t>
            </a:r>
            <a:r>
              <a:rPr lang="uk-UA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endParaRPr lang="ru-RU" sz="24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59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419109"/>
            <a:ext cx="5157787" cy="471833"/>
          </a:xfrm>
        </p:spPr>
        <p:txBody>
          <a:bodyPr/>
          <a:lstStyle/>
          <a:p>
            <a:pPr algn="ctr"/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Базовий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функціонал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uk-U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1934194"/>
            <a:ext cx="5157787" cy="368458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пошук вакансій за параметрами;</a:t>
            </a:r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перегляд списку вакансій;</a:t>
            </a:r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перегляд докладного опису вакансії;</a:t>
            </a:r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збереження вподобаних вакансій.</a:t>
            </a:r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uk-UA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404476"/>
            <a:ext cx="5183188" cy="471833"/>
          </a:xfrm>
        </p:spPr>
        <p:txBody>
          <a:bodyPr/>
          <a:lstStyle/>
          <a:p>
            <a:pPr algn="ctr"/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Унікальний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функціонал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uk-U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0612" y="1934194"/>
            <a:ext cx="5442268" cy="368458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ru-RU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можливість</a:t>
            </a:r>
            <a:r>
              <a:rPr lang="ru-RU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пошуку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вакансій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за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навичками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користувача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Шукач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вводить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свої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навички</a:t>
            </a:r>
            <a:r>
              <a:rPr lang="ru-RU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система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передає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їх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до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моделі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обробки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природної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мови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яка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заздалегідь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навчена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 великому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обсязі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описів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вакансій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та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спираючись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 результат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моделі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повертає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список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вакансій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до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яких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ці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навички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відносяться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9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498600" y="66675"/>
            <a:ext cx="919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ВИМОГИ ДО МОБІЛЬНОГО ЗАСТОСУНКУ ДЛЯ СБОРУ ТА АГРЕГАЦІЇ ДАНИХ ПРО ВАКАНСІЇ</a:t>
            </a:r>
            <a:endParaRPr lang="ru-RU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956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75508" y="83579"/>
            <a:ext cx="7840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ВИБІР ТЕХНОЛОГІЙ ДЛЯ РОЗРОБКИ СИСТЕМИ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10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Kotlin – эволюция языка Java от российских программистов. | Академия  прикладной информатики | Дзен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8" t="39388" r="18350" b="39481"/>
          <a:stretch/>
        </p:blipFill>
        <p:spPr bwMode="auto">
          <a:xfrm>
            <a:off x="737290" y="1149083"/>
            <a:ext cx="2171700" cy="72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ndroid Jetpack · Git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90" y="239514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ile:SQLite370.svg - Wikimedia Common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" t="4957" r="2546" b="5823"/>
          <a:stretch/>
        </p:blipFill>
        <p:spPr bwMode="auto">
          <a:xfrm>
            <a:off x="409575" y="4538238"/>
            <a:ext cx="2970538" cy="132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Язык программирования Java - ProgKid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633" y="806323"/>
            <a:ext cx="2708733" cy="1692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Файл:Spring Framework Logo 2018.svg — Вікіпедія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635" y="2847107"/>
            <a:ext cx="3894728" cy="100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ostgresql, original, wordmark, logo Icon in Devico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686" y="4223990"/>
            <a:ext cx="195262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File:Jupyter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4106" y="3910058"/>
            <a:ext cx="1855655" cy="215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Python (programming language) - Wikipedia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59"/>
          <a:stretch/>
        </p:blipFill>
        <p:spPr bwMode="auto">
          <a:xfrm>
            <a:off x="9555232" y="1156624"/>
            <a:ext cx="2133401" cy="210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26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xmlns:lc="http://schemas.openxmlformats.org/drawingml/2006/lockedCanvas" id="{1542EED4-C4F9-40EF-9AFF-6CCCE18CBFA3}"/>
              </a:ext>
            </a:extLst>
          </p:cNvPr>
          <p:cNvSpPr>
            <a:spLocks noGrp="1"/>
          </p:cNvSpPr>
          <p:nvPr/>
        </p:nvSpPr>
        <p:spPr>
          <a:xfrm>
            <a:off x="423556" y="1062446"/>
            <a:ext cx="5006274" cy="501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0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Діаграма</a:t>
            </a:r>
            <a:r>
              <a:rPr lang="ru-RU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прецедентів</a:t>
            </a:r>
            <a:r>
              <a:rPr lang="ru-RU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верхнього</a:t>
            </a:r>
            <a:r>
              <a:rPr lang="ru-RU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рівня</a:t>
            </a:r>
            <a:r>
              <a:rPr lang="ru-RU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3074" name="Picture 2" descr="Use case, Sys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97" y="1564006"/>
            <a:ext cx="516255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29830" y="1564006"/>
            <a:ext cx="657167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Tahoma" panose="020B0604030504040204" pitchFamily="34" charset="0"/>
              <a:buChar char="–"/>
            </a:pPr>
            <a:r>
              <a:rPr lang="uk-UA" sz="1600" b="1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користувач </a:t>
            </a:r>
            <a:r>
              <a:rPr lang="uk-UA" sz="1600" b="1" dirty="0" err="1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</a:t>
            </a:r>
            <a:r>
              <a:rPr lang="uk-UA" sz="1600" b="1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-застосунку</a:t>
            </a:r>
            <a:r>
              <a:rPr lang="en-US" sz="1600" b="1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uk-U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актор, який має можливість користуватися всім функціоналом, який надається клієнтською частиною системи. Вибір був зроблений на користь одного типу користувача, так як немає необхідності реєструвати користувачів та зберігати будь-які їх дані на серверної частині системи, бо вся необхідна інформація може зберігатися на пристрої користувача</a:t>
            </a:r>
            <a:r>
              <a:rPr lang="uk-UA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Tahoma" panose="020B0604030504040204" pitchFamily="34" charset="0"/>
              <a:buChar char="–"/>
            </a:pPr>
            <a:r>
              <a:rPr lang="uk-UA" sz="1600" b="1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оператор системи</a:t>
            </a:r>
            <a:r>
              <a:rPr lang="en-US" sz="1600" b="1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uk-UA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користувач-актор</a:t>
            </a:r>
            <a:r>
              <a:rPr lang="uk-U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який має змогу оновляти базу даних вакансій за допомогою звернення до відповідного методу </a:t>
            </a:r>
            <a:r>
              <a:rPr lang="uk-UA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</a:t>
            </a:r>
            <a:r>
              <a:rPr lang="uk-U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-серверу, до якого необхідно передати API-ключ, який генерується при запуску серверної </a:t>
            </a:r>
            <a:r>
              <a:rPr lang="uk-UA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частини.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11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53330" y="1067617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Типи</a:t>
            </a:r>
            <a:r>
              <a:rPr lang="ru-RU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користувачів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32188" y="24156"/>
            <a:ext cx="1087755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ПРОЕКТУВАННЯ</a:t>
            </a:r>
            <a:r>
              <a:rPr lang="uk-UA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МОБІЛЬНОГО ЗАСТОСУНКУ ДЛЯ ЗБОРУ ТА АГРЕГАЦІЇ ДАНИХ ПРО ВАКАНСІЇ</a:t>
            </a:r>
          </a:p>
        </p:txBody>
      </p:sp>
    </p:spTree>
    <p:extLst>
      <p:ext uri="{BB962C8B-B14F-4D97-AF65-F5344CB8AC3E}">
        <p14:creationId xmlns:p14="http://schemas.microsoft.com/office/powerpoint/2010/main" val="372514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12</a:t>
            </a:fld>
            <a:endParaRPr lang="ru-RU" sz="1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262" y="1573534"/>
            <a:ext cx="7023476" cy="478281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32188" y="24156"/>
            <a:ext cx="1087755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ПРОЕКТУВАННЯ</a:t>
            </a:r>
            <a:r>
              <a:rPr lang="uk-UA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МОБІЛЬНОГО ЗАСТОСУНКУ ДЛЯ ЗБОРУ ТА АГРЕГАЦІЇ ДАНИХ ПРО ВАКАНСІЇ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="" xmlns:a16="http://schemas.microsoft.com/office/drawing/2014/main" xmlns:lc="http://schemas.openxmlformats.org/drawingml/2006/lockedCanvas" id="{1542EED4-C4F9-40EF-9AFF-6CCCE18CBFA3}"/>
              </a:ext>
            </a:extLst>
          </p:cNvPr>
          <p:cNvSpPr>
            <a:spLocks noGrp="1"/>
          </p:cNvSpPr>
          <p:nvPr/>
        </p:nvSpPr>
        <p:spPr>
          <a:xfrm>
            <a:off x="3667826" y="1037429"/>
            <a:ext cx="5006274" cy="501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0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Логічне</a:t>
            </a:r>
            <a:r>
              <a:rPr lang="ru-RU" sz="1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8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представлення</a:t>
            </a:r>
            <a:r>
              <a:rPr lang="ru-RU" sz="1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8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системи</a:t>
            </a:r>
            <a:r>
              <a:rPr lang="ru-RU" sz="1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ru-RU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186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xmlns:lc="http://schemas.openxmlformats.org/drawingml/2006/lockedCanvas" id="{955D6B58-AA39-44D9-B42F-9B6A4C3A682A}"/>
              </a:ext>
            </a:extLst>
          </p:cNvPr>
          <p:cNvSpPr>
            <a:spLocks noGrp="1"/>
          </p:cNvSpPr>
          <p:nvPr/>
        </p:nvSpPr>
        <p:spPr>
          <a:xfrm>
            <a:off x="4167020" y="1002885"/>
            <a:ext cx="3857959" cy="3286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0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Проектування</a:t>
            </a:r>
            <a:r>
              <a:rPr lang="ru-RU" sz="1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8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бази</a:t>
            </a:r>
            <a:r>
              <a:rPr lang="ru-RU" sz="1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8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даних</a:t>
            </a:r>
            <a:endParaRPr lang="ru-RU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147" name="Picture 3" descr="Database ser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9" t="14354" r="21516" b="14740"/>
          <a:stretch>
            <a:fillRect/>
          </a:stretch>
        </p:blipFill>
        <p:spPr bwMode="auto">
          <a:xfrm>
            <a:off x="9914288" y="2494339"/>
            <a:ext cx="16954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13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32188" y="24156"/>
            <a:ext cx="1087755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ПРОЕКТУВАННЯ</a:t>
            </a:r>
            <a:r>
              <a:rPr lang="uk-UA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МОБІЛЬНОГО ЗАСТОСУНКУ ДЛЯ ЗБОРУ ТА АГРЕГАЦІЇ ДАНИХ ПРО ВАКАНСІЇ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2188" y="1512536"/>
            <a:ext cx="8755144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Поля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таблиці: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унікальний номер вакансії, за яким до них здійснюватиметься доступ;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title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заголовок вакансії, що несе в собі інформацію про напрямок та позицію вакансії;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company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назва компанії, яка надає вакансію;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salary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зарплата, зазначена у вакансії. Вибрано тип </a:t>
            </a:r>
            <a:r>
              <a:rPr lang="uk-U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оскільки значення можуть бути різні: точне число в гривнях/доларах, діапазон значень, наприклад, $500-$1000, або текст, такий як «За результатами співбесіди»;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location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місто, яке зазначене для вакансії, або віддалена робота.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description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опис вакансії;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Times New Roman" panose="02020603050405020304" pitchFamily="18" charset="0"/>
              <a:buChar char="–"/>
              <a:tabLst>
                <a:tab pos="680720" algn="l"/>
              </a:tabLst>
            </a:pPr>
            <a:r>
              <a:rPr lang="uk-U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category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категорія 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u-RU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93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xmlns:lc="http://schemas.openxmlformats.org/drawingml/2006/lockedCanvas" id="{1542EED4-C4F9-40EF-9AFF-6CCCE18CBFA3}"/>
              </a:ext>
            </a:extLst>
          </p:cNvPr>
          <p:cNvSpPr>
            <a:spLocks noGrp="1"/>
          </p:cNvSpPr>
          <p:nvPr/>
        </p:nvSpPr>
        <p:spPr>
          <a:xfrm>
            <a:off x="3010517" y="1002885"/>
            <a:ext cx="6320891" cy="5077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0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uk-UA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Користувальницький інтерфейс</a:t>
            </a:r>
            <a:endParaRPr lang="ru-RU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14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72" y="2272320"/>
            <a:ext cx="1914525" cy="37242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673" y="2272320"/>
            <a:ext cx="1914525" cy="372427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474" y="2272319"/>
            <a:ext cx="1914525" cy="372427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275" y="2272319"/>
            <a:ext cx="1914525" cy="3724275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732188" y="24156"/>
            <a:ext cx="1087755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ПРОЕКТУВАННЯ</a:t>
            </a:r>
            <a:r>
              <a:rPr lang="uk-UA" sz="24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МОБІЛЬНОГО ЗАСТОСУНКУ ДЛЯ ЗБОРУ ТА АГРЕГАЦІЇ ДАНИХ ПРО ВАКАНСІЇ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872" y="1510619"/>
            <a:ext cx="1914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Пошук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вакансій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 параметрами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10995" y="1510620"/>
            <a:ext cx="1914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Пошук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вакансій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навичками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36119" y="1658871"/>
            <a:ext cx="1899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Список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вакансій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11707" y="152037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Докладний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ctr"/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опис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6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54652A25-061E-49C7-99D4-5D3A9CA9CBF6}"/>
              </a:ext>
            </a:extLst>
          </p:cNvPr>
          <p:cNvSpPr>
            <a:spLocks noGrp="1"/>
          </p:cNvSpPr>
          <p:nvPr/>
        </p:nvSpPr>
        <p:spPr>
          <a:xfrm>
            <a:off x="838201" y="80393"/>
            <a:ext cx="10515599" cy="9883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АЛГОРИТМІЧНЕ </a:t>
            </a:r>
            <a:r>
              <a:rPr lang="ru-RU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ЗАБЕЗПЕЧЕННЯ МОБІЛЬНОГО ЗАСТОСУНКУ ДЛЯ ЗБОРУ ТА АГРЕГАЦІЇ ДАНИХ ПРО </a:t>
            </a:r>
            <a:r>
              <a:rPr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ВАКАНСІЇ.</a:t>
            </a:r>
            <a:endParaRPr lang="en-US" sz="1800" b="1" dirty="0" smtClean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МОДЕЛЬ ОБРОБКИ </a:t>
            </a:r>
            <a:r>
              <a:rPr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</a:t>
            </a:r>
            <a:r>
              <a:rPr lang="ru-RU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</a:t>
            </a:r>
            <a:r>
              <a:rPr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РОДНОЇ </a:t>
            </a:r>
            <a:r>
              <a:rPr lang="ru-RU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МОВИ, </a:t>
            </a:r>
            <a:r>
              <a:rPr lang="en-US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TF-IDF</a:t>
            </a:r>
            <a:endParaRPr lang="uk-UA" sz="1800" b="1" dirty="0">
              <a:solidFill>
                <a:schemeClr val="accent4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15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Объект 2"/>
              <p:cNvSpPr txBox="1">
                <a:spLocks/>
              </p:cNvSpPr>
              <p:nvPr/>
            </p:nvSpPr>
            <p:spPr>
              <a:xfrm>
                <a:off x="838200" y="1135380"/>
                <a:ext cx="10515600" cy="5494020"/>
              </a:xfrm>
              <a:prstGeom prst="rect">
                <a:avLst/>
              </a:prstGeom>
            </p:spPr>
            <p:txBody>
              <a:bodyPr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uk-UA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TF-IDF складається з двох </a:t>
                </a:r>
                <a:r>
                  <a:rPr lang="uk-UA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составних</a:t>
                </a: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TF (</a:t>
                </a:r>
                <a:r>
                  <a:rPr lang="uk-UA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term</a:t>
                </a: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uk-UA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frequency</a:t>
                </a: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– частота слова) – відношення числа входжень деякого слова до загального числа слів документа. Таким чином, оцінюється важливість слова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uk-U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у межах окремого документа.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>
                          <a:latin typeface="Cambria Math" panose="02040503050406030204" pitchFamily="18" charset="0"/>
                        </a:rPr>
                        <m:t>𝑡𝑓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uk-UA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uk-UA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є число входження слова t в документ, а знаменнику — загальна кількість слів у цьому документі.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 smtClean="0"/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uk-UA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IDF </a:t>
                </a: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</a:t>
                </a:r>
                <a:r>
                  <a:rPr lang="uk-UA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inverse</a:t>
                </a: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uk-UA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document</a:t>
                </a: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uk-UA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frequency</a:t>
                </a: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– зворотна частота документа) – інверсія частоти, з якою деяке слово зустрічається в документах колекції. Облік IDF зменшує вагу широковживаних слів. 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>
                          <a:latin typeface="Cambria Math" panose="02040503050406030204" pitchFamily="18" charset="0"/>
                        </a:rPr>
                        <m:t>𝑖𝑑𝑓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uk-U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{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}|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uk-UA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де </a:t>
                </a:r>
                <a14:m>
                  <m:oMath xmlns:m="http://schemas.openxmlformats.org/officeDocument/2006/math">
                    <m:r>
                      <a:rPr lang="uk-UA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- число документів в колекції</a:t>
                </a:r>
                <a:r>
                  <a:rPr lang="uk-UA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uk-UA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uk-UA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uk-UA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uk-U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uk-U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uk-UA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uk-UA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– число документів із колекції </a:t>
                </a:r>
                <a14:m>
                  <m:oMath xmlns:m="http://schemas.openxmlformats.org/officeDocument/2006/math">
                    <m:r>
                      <a:rPr lang="uk-UA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у яких зустрічається</a:t>
                </a:r>
                <a:r>
                  <a:rPr lang="uk-UA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k-UA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uk-UA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Вибір основи логарифму у формулі немає значення, оскільки зміна основи призводить до зміни ваги кожного слова на постійний множник, що не впливає на співвідношення ваг.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ru-RU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Т</a:t>
                </a:r>
                <a:r>
                  <a:rPr lang="uk-UA" dirty="0" err="1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аким</a:t>
                </a:r>
                <a:r>
                  <a:rPr lang="uk-UA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uk-UA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чином, міра TF-IDF є твором двох співмножників: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>
                          <a:latin typeface="Cambria Math" panose="02040503050406030204" pitchFamily="18" charset="0"/>
                        </a:rPr>
                        <m:t>𝑡𝑓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𝑖𝑑𝑓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uk-U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𝑡𝑓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uk-UA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𝑖𝑑𝑓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uk-UA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Велику вагу в TF-IDF отримають слова з високою частотою в межах конкретного документа та з низькою частотою вживань в інших документах.</a:t>
                </a:r>
                <a:endParaRPr lang="en-U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ru-RU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35380"/>
                <a:ext cx="10515600" cy="5494020"/>
              </a:xfrm>
              <a:prstGeom prst="rect">
                <a:avLst/>
              </a:prstGeom>
              <a:blipFill rotWithShape="0"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38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16</a:t>
            </a:fld>
            <a:endParaRPr lang="ru-RU" sz="1400" dirty="0"/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t="-1" b="17210"/>
          <a:stretch/>
        </p:blipFill>
        <p:spPr bwMode="auto">
          <a:xfrm>
            <a:off x="506412" y="3282716"/>
            <a:ext cx="6149975" cy="32518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54652A25-061E-49C7-99D4-5D3A9CA9CBF6}"/>
              </a:ext>
            </a:extLst>
          </p:cNvPr>
          <p:cNvSpPr>
            <a:spLocks noGrp="1"/>
          </p:cNvSpPr>
          <p:nvPr/>
        </p:nvSpPr>
        <p:spPr>
          <a:xfrm>
            <a:off x="838201" y="80393"/>
            <a:ext cx="10515599" cy="9883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АЛГОРИТМІЧНЕ </a:t>
            </a:r>
            <a:r>
              <a:rPr lang="ru-RU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ЗАБЕЗПЕЧЕННЯ МОБІЛЬНОГО ЗАСТОСУНКУ ДЛЯ ЗБОРУ ТА АГРЕГАЦІЇ ДАНИХ ПРО </a:t>
            </a:r>
            <a:r>
              <a:rPr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ВАКАНСІЇ.</a:t>
            </a:r>
            <a:endParaRPr lang="en-US" sz="1800" b="1" dirty="0" smtClean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МОДЕЛЬ ОБРОБКИ </a:t>
            </a:r>
            <a:r>
              <a:rPr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</a:t>
            </a:r>
            <a:r>
              <a:rPr lang="ru-RU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</a:t>
            </a:r>
            <a:r>
              <a:rPr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РОДНОЇ </a:t>
            </a:r>
            <a:r>
              <a:rPr lang="ru-RU" sz="18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МОВИ, </a:t>
            </a:r>
            <a:r>
              <a:rPr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ДАНІ</a:t>
            </a:r>
            <a:endParaRPr lang="uk-UA" sz="1800" b="1" dirty="0">
              <a:solidFill>
                <a:schemeClr val="accent4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21" y="1068705"/>
            <a:ext cx="120763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ahoma" panose="020B0604030504040204" pitchFamily="34" charset="0"/>
              <a:buChar char="–"/>
            </a:pP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навчання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був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створений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датасет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з 9 тис. 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екстів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вакансій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285750" indent="-285750">
              <a:buFont typeface="Tahoma" panose="020B0604030504040204" pitchFamily="34" charset="0"/>
              <a:buChar char="–"/>
            </a:pP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нього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були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видалені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«стоп-слова», слова,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які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не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несуть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інформаційної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нагрузки, та знаки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окрім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літер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 </a:t>
            </a:r>
          </a:p>
          <a:p>
            <a:pPr marL="285750" indent="-285750">
              <a:buFont typeface="Tahoma" panose="020B0604030504040204" pitchFamily="34" charset="0"/>
              <a:buChar char="–"/>
            </a:pP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Текст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був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приведений до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нижнього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регистру;</a:t>
            </a:r>
          </a:p>
          <a:p>
            <a:pPr marL="285750" indent="-285750">
              <a:buFont typeface="Tahoma" panose="020B0604030504040204" pitchFamily="34" charset="0"/>
              <a:buChar char="–"/>
            </a:pP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Була вирішена проблема незбалансованості даних за допомогою алгоритму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SMOTE(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генерування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синтетичних прикладів, на підставі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існуючих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</a:p>
          <a:p>
            <a:pPr marL="285750" indent="-285750">
              <a:buFont typeface="Tahoma" panose="020B0604030504040204" pitchFamily="34" charset="0"/>
              <a:buChar char="–"/>
            </a:pP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Як класифікатор було обрано класифікатор на підставі методу опорних векторів, який показав найкращі результати під час експериментів.</a:t>
            </a:r>
            <a:endParaRPr lang="uk-U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Объект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3191372"/>
            <a:ext cx="2646514" cy="343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7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54652A25-061E-49C7-99D4-5D3A9CA9CBF6}"/>
              </a:ext>
            </a:extLst>
          </p:cNvPr>
          <p:cNvSpPr>
            <a:spLocks noGrp="1"/>
          </p:cNvSpPr>
          <p:nvPr/>
        </p:nvSpPr>
        <p:spPr>
          <a:xfrm>
            <a:off x="280887" y="119083"/>
            <a:ext cx="11630226" cy="6879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uk-UA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РЕАЛІЗАЦІЯ </a:t>
            </a:r>
            <a:r>
              <a:rPr lang="ru-RU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МОБІЛЬНОГО ЗАСТОСУНКУ ДЛЯ ЗБОРУ ТА АГРЕГАЦІЇ ДАНИХ ПРО </a:t>
            </a:r>
            <a:r>
              <a:rPr lang="ru-RU" sz="20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endParaRPr lang="ru-RU" sz="20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17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73" y="881771"/>
            <a:ext cx="5067752" cy="380452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686" y="949105"/>
            <a:ext cx="4495800" cy="52578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880" y="4864644"/>
            <a:ext cx="2911138" cy="134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18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640727"/>
            <a:ext cx="10877550" cy="3583393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54652A25-061E-49C7-99D4-5D3A9CA9CBF6}"/>
              </a:ext>
            </a:extLst>
          </p:cNvPr>
          <p:cNvSpPr>
            <a:spLocks noGrp="1"/>
          </p:cNvSpPr>
          <p:nvPr/>
        </p:nvSpPr>
        <p:spPr>
          <a:xfrm>
            <a:off x="280887" y="119083"/>
            <a:ext cx="11630226" cy="6879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uk-UA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РЕАЛІЗАЦІЯ </a:t>
            </a:r>
            <a:r>
              <a:rPr lang="ru-RU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МОБІЛЬНОГО ЗАСТОСУНКУ ДЛЯ ЗБОРУ ТА АГРЕГАЦІЇ ДАНИХ ПРО </a:t>
            </a:r>
            <a:r>
              <a:rPr lang="ru-RU" sz="20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endParaRPr lang="ru-RU" sz="20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19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84" y="1736725"/>
            <a:ext cx="1946031" cy="42164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569" y="1762724"/>
            <a:ext cx="1946031" cy="42164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684" y="1736724"/>
            <a:ext cx="1946031" cy="421640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7769" y="1762724"/>
            <a:ext cx="1946031" cy="421640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54652A25-061E-49C7-99D4-5D3A9CA9CBF6}"/>
              </a:ext>
            </a:extLst>
          </p:cNvPr>
          <p:cNvSpPr>
            <a:spLocks noGrp="1"/>
          </p:cNvSpPr>
          <p:nvPr/>
        </p:nvSpPr>
        <p:spPr>
          <a:xfrm>
            <a:off x="280887" y="119083"/>
            <a:ext cx="11630226" cy="6879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uk-UA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РЕАЛІЗАЦІЯ </a:t>
            </a:r>
            <a:r>
              <a:rPr lang="ru-RU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МОБІЛЬНОГО ЗАСТОСУНКУ ДЛЯ ЗБОРУ ТА АГРЕГАЦІЇ ДАНИХ ПРО </a:t>
            </a:r>
            <a:r>
              <a:rPr lang="ru-RU" sz="2000" b="1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ВАКАНСІЇ</a:t>
            </a:r>
            <a:endParaRPr lang="ru-RU" sz="20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45812" y="1010333"/>
            <a:ext cx="21242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Пошук</a:t>
            </a:r>
            <a:r>
              <a:rPr lang="ru-RU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вакансій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</a:t>
            </a:r>
            <a:r>
              <a:rPr lang="ru-RU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 параметрами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72515" y="961721"/>
            <a:ext cx="2105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Пошук</a:t>
            </a:r>
            <a:r>
              <a:rPr lang="ru-RU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вакансій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</a:t>
            </a:r>
            <a:r>
              <a:rPr lang="ru-RU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 </a:t>
            </a:r>
            <a:r>
              <a:rPr lang="ru-RU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навичками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96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54652A25-061E-49C7-99D4-5D3A9CA9CBF6}"/>
              </a:ext>
            </a:extLst>
          </p:cNvPr>
          <p:cNvSpPr>
            <a:spLocks noGrp="1"/>
          </p:cNvSpPr>
          <p:nvPr/>
        </p:nvSpPr>
        <p:spPr>
          <a:xfrm>
            <a:off x="280885" y="0"/>
            <a:ext cx="11630226" cy="7914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ТЕСТУВАННЯ ІНФОРМАЦІЙНОЇ СИСТЕМИ</a:t>
            </a:r>
            <a:endParaRPr lang="ru-RU" sz="30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3020694" y="4386262"/>
            <a:ext cx="6150610" cy="2152650"/>
          </a:xfrm>
          <a:prstGeom prst="rect">
            <a:avLst/>
          </a:prstGeom>
        </p:spPr>
      </p:pic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20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006932"/>
              </p:ext>
            </p:extLst>
          </p:nvPr>
        </p:nvGraphicFramePr>
        <p:xfrm>
          <a:off x="2709372" y="1056331"/>
          <a:ext cx="6773256" cy="27432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3314"/>
                <a:gridCol w="1693314"/>
                <a:gridCol w="1693314"/>
                <a:gridCol w="1693314"/>
              </a:tblGrid>
              <a:tr h="609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630555" algn="l"/>
                        </a:tabLst>
                      </a:pPr>
                      <a:r>
                        <a:rPr lang="uk-UA" sz="1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Номер тест-кейсу</a:t>
                      </a:r>
                      <a:endParaRPr lang="ru-RU" sz="14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630555" algn="l"/>
                        </a:tabLst>
                      </a:pPr>
                      <a:r>
                        <a:rPr lang="uk-UA" sz="14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Очікуваний результат</a:t>
                      </a:r>
                      <a:endParaRPr lang="ru-RU" sz="14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630555" algn="l"/>
                        </a:tabLst>
                      </a:pPr>
                      <a:r>
                        <a:rPr lang="uk-UA" sz="1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Отриманий результат</a:t>
                      </a:r>
                      <a:endParaRPr lang="ru-RU" sz="14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630555" algn="l"/>
                        </a:tabLst>
                      </a:pPr>
                      <a:r>
                        <a:rPr lang="uk-UA" sz="1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Коментар</a:t>
                      </a:r>
                      <a:endParaRPr lang="ru-RU" sz="14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</a:tr>
              <a:tr h="609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Тест-кейс №</a:t>
                      </a:r>
                      <a:r>
                        <a:rPr lang="ru-RU" sz="1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Видалення навички</a:t>
                      </a:r>
                      <a:endParaRPr lang="ru-RU" sz="14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Видалення навички</a:t>
                      </a:r>
                      <a:endParaRPr lang="ru-RU" sz="1400" b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Виконано</a:t>
                      </a:r>
                      <a:endParaRPr lang="ru-RU" sz="1400" b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</a:tr>
              <a:tr h="9143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Тест-кейс №</a:t>
                      </a:r>
                      <a:r>
                        <a:rPr lang="ru-RU" sz="14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Перехід на екран «Список Вакансій»</a:t>
                      </a:r>
                      <a:endParaRPr lang="ru-RU" sz="14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Перехід на екран «Список Вакансій»</a:t>
                      </a:r>
                      <a:endParaRPr lang="ru-RU" sz="14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Виконано</a:t>
                      </a:r>
                      <a:endParaRPr lang="ru-RU" sz="14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</a:tr>
              <a:tr h="609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Тест-кейс №</a:t>
                      </a:r>
                      <a:r>
                        <a:rPr lang="ru-RU" sz="14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Відображення списку вакансій</a:t>
                      </a:r>
                      <a:endParaRPr lang="ru-RU" sz="1400" b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Відображення списку вакансій</a:t>
                      </a:r>
                      <a:endParaRPr lang="ru-RU" sz="14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uk-UA" sz="1400" b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Виконано</a:t>
                      </a:r>
                      <a:endParaRPr lang="ru-RU" sz="14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1882346" y="622013"/>
            <a:ext cx="842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Функціональне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тестування на 30 тест-кейсів.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Проводилося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 ручному режимі.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303661" y="3907436"/>
            <a:ext cx="9584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Модульне тестування на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79 тестів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покриттям 100% класів, 91% методів та 72% строк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27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54652A25-061E-49C7-99D4-5D3A9CA9CBF6}"/>
              </a:ext>
            </a:extLst>
          </p:cNvPr>
          <p:cNvSpPr>
            <a:spLocks noGrp="1"/>
          </p:cNvSpPr>
          <p:nvPr/>
        </p:nvSpPr>
        <p:spPr>
          <a:xfrm>
            <a:off x="241300" y="-4084"/>
            <a:ext cx="11630226" cy="737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ВИСНОВКИ</a:t>
            </a:r>
            <a:endParaRPr lang="ru-RU" sz="2400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41300" y="733853"/>
            <a:ext cx="117094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800" lvl="0" algn="just">
              <a:buClr>
                <a:srgbClr val="000000"/>
              </a:buClr>
              <a:buSzPct val="80000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Проведено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аналіз аналогів систем збору та агрегації даних про вакансії, завдяки якому був визначений необхідний функціонал, для того щоб </a:t>
            </a:r>
            <a:r>
              <a:rPr lang="uk-UA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розробл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юєм</a:t>
            </a:r>
            <a:r>
              <a:rPr lang="uk-UA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ий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uk-U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-застосунку був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конкурентоспроможним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u-RU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800" lvl="0" algn="just">
              <a:buClr>
                <a:srgbClr val="000000"/>
              </a:buClr>
              <a:buSzPct val="80000"/>
              <a:defRPr/>
            </a:pPr>
            <a:endParaRPr lang="en-US" dirty="0" smtClean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800" lvl="0" algn="just">
              <a:buClr>
                <a:srgbClr val="000000"/>
              </a:buClr>
              <a:buSzPct val="80000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Спроектовано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мобільний застосунок для збору та агрегації даних про вакансії, а саме: були сформовані функціональні та нефункціональні вимоги, розроблені діаграми прецедентів, логічного уявлення, процесів та інші, створені </a:t>
            </a:r>
            <a:r>
              <a:rPr lang="uk-U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мокапи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застосунку та спроектовані бази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даних</a:t>
            </a:r>
            <a:r>
              <a:rPr lang="en-US" dirty="0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u-RU" dirty="0" smtClean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800" lvl="0" algn="just">
              <a:buClr>
                <a:srgbClr val="000000"/>
              </a:buClr>
              <a:buSzPct val="80000"/>
              <a:defRPr/>
            </a:pPr>
            <a:endParaRPr lang="en-US" dirty="0" smtClean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800" lvl="0" algn="just">
              <a:buClr>
                <a:srgbClr val="000000"/>
              </a:buClr>
              <a:buSzPct val="80000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</a:t>
            </a:r>
            <a:r>
              <a:rPr lang="uk-UA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еалізовано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застосунок для збору та агрегації даних про вакансії, а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сам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створені уявлення про структури проектів та класів кожної з частин системи, описано інфраструктурне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уявлення,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обрано стратегією доставки 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продукту та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відбулося тестування всієї системи за допомогою функціонального та модульного тестування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6800" lvl="0" algn="just">
              <a:buClr>
                <a:srgbClr val="000000"/>
              </a:buClr>
              <a:buSzPct val="80000"/>
              <a:defRPr/>
            </a:pPr>
            <a:endParaRPr lang="uk-U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800" lvl="0" algn="just">
              <a:buClr>
                <a:srgbClr val="000000"/>
              </a:buClr>
              <a:buSzPct val="80000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Результати дослідження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реалізації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моделі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обробки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природної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мови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для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аналізу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навичок</a:t>
            </a:r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користувача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доповідалися на XIII міжнародній науковій конференції студентів та молодих учених «Сучасні інформаційні технології – 2023</a:t>
            </a: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u-RU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800" lvl="0" algn="just">
              <a:buClr>
                <a:srgbClr val="000000"/>
              </a:buClr>
              <a:buSzPct val="80000"/>
              <a:defRPr/>
            </a:pPr>
            <a:endParaRPr lang="uk-U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800" lvl="0" algn="ctr">
              <a:buClr>
                <a:srgbClr val="000000"/>
              </a:buClr>
              <a:buSzPct val="80000"/>
              <a:defRPr/>
            </a:pPr>
            <a:r>
              <a:rPr lang="uk-UA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Таким </a:t>
            </a:r>
            <a:r>
              <a:rPr lang="uk-U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чином, мета даної кваліфікаційної роботи була досягнена у повному обсязі.</a:t>
            </a:r>
            <a:endParaRPr lang="uk-UA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FBF-A354-4D1D-AE10-F21F48138330}" type="slidenum">
              <a:rPr lang="ru-RU" sz="14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21</a:t>
            </a:fld>
            <a:endParaRPr lang="ru-RU" sz="1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59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1078</Words>
  <Application>Microsoft Office PowerPoint</Application>
  <PresentationFormat>Широкоэкранный</PresentationFormat>
  <Paragraphs>196</Paragraphs>
  <Slides>21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Corbel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26</cp:revision>
  <dcterms:created xsi:type="dcterms:W3CDTF">2023-06-20T18:13:01Z</dcterms:created>
  <dcterms:modified xsi:type="dcterms:W3CDTF">2023-06-22T06:46:01Z</dcterms:modified>
</cp:coreProperties>
</file>